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wav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5"/>
  </p:sldMasterIdLst>
  <p:sldIdLst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6858000" cy="9144000"/>
  <p:custShowLst>
    <p:custShow name="Managers" id="0">
      <p:sldLst>
        <p:sld r:id="rId6"/>
        <p:sld r:id="rId8"/>
        <p:sld r:id="rId9"/>
        <p:sld r:id="rId10"/>
        <p:sld r:id="rId12"/>
        <p:sld r:id="rId15"/>
        <p:sld r:id="rId16"/>
      </p:sldLst>
    </p:custShow>
  </p:custShow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60"/>
  </p:normalViewPr>
  <p:slideViewPr>
    <p:cSldViewPr snapToGrid="0">
      <p:cViewPr varScale="1">
        <p:scale>
          <a:sx n="85" d="100"/>
          <a:sy n="85" d="100"/>
        </p:scale>
        <p:origin x="36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403.81378" units="1/cm"/>
          <inkml:channelProperty channel="T" name="resolution" value="1" units="1/dev"/>
        </inkml:channelProperties>
      </inkml:inkSource>
      <inkml:timestamp xml:id="ts0" timeString="2020-05-25T20:04:39.692"/>
    </inkml:context>
    <inkml:brush xml:id="br0">
      <inkml:brushProperty name="width" value="0.08819" units="cm"/>
      <inkml:brushProperty name="height" value="0.35278" units="cm"/>
      <inkml:brushProperty name="color" value="#92D050"/>
      <inkml:brushProperty name="tip" value="rectangle"/>
      <inkml:brushProperty name="rasterOp" value="maskPen"/>
    </inkml:brush>
  </inkml:definitions>
  <inkml:trace contextRef="#ctx0" brushRef="#br0">14273 4947 0,'-17'-9'0,"17"9"16,0 0-16,0 0 16,0 0-1,0 0-15,0 0 16,0 0-1,0 0-15,0 0 16,0 0 0,0 0-16,0 0 15,0 0 1,74 71-16,-12-52 16,41 9-16,22-9 15,40-4 1,23-6-16,45-9 15,17-9 1,12-6-16,5 6 16,-11-1-16,-17-8 15,-28 8 1,-29-14 0,-29 10-16,-22 0 15,-29-5-15,-33 9 16,-24 1-1,-22-1-15,-17 10 16,-23 0 0,0 0-16,-12 10 15,-5 9-15,6 0 16,-1-10 0,1-4-1,11 5-15,-6-6 16,11-4-16,1-9 15,5-1 1,35-18-16,45 28 16,34-19-1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403.81378" units="1/cm"/>
          <inkml:channelProperty channel="T" name="resolution" value="1" units="1/dev"/>
        </inkml:channelProperties>
      </inkml:inkSource>
      <inkml:timestamp xml:id="ts0" timeString="2020-05-25T20:04:40.733"/>
    </inkml:context>
    <inkml:brush xml:id="br0">
      <inkml:brushProperty name="width" value="0.08819" units="cm"/>
      <inkml:brushProperty name="height" value="0.35278" units="cm"/>
      <inkml:brushProperty name="color" value="#92D050"/>
      <inkml:brushProperty name="tip" value="rectangle"/>
      <inkml:brushProperty name="rasterOp" value="maskPen"/>
    </inkml:brush>
  </inkml:definitions>
  <inkml:trace contextRef="#ctx0" brushRef="#br0">13971 6413 0,'0'0'0,"0"0"0,0 0 16,0 0-1,17 109-15,6-90 16,-6-9 0,6 9-16,-6-19 15,12 9 1,-1-9-16,6 10 15,17-10 1,6 4-16,29-4 16,27-4-1,30-6-15,39-9 16,45 0 0,41-9-16,16 9 15,6-5-15,-11 5 16,-23 0-1,-17 0-15,-23 0 16,-28 14 0,-18-4-16,-10-1 15,-1 10-15,0-9 16,-17-1 0,-16 10-16,-30-9 15,-22-1 1,-28 1-16,-35 9 15,-17 0-15,-11 0 16,-17 0 0,6 19-1,-1-19-15,46 9 16,35-9-16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440" units="cm"/>
          <inkml:channel name="Y" type="integer" min="-639" max="900" units="cm"/>
          <inkml:channel name="T" type="integer" max="2.14748E9" units="dev"/>
        </inkml:traceFormat>
        <inkml:channelProperties>
          <inkml:channelProperty channel="X" name="resolution" value="117.89474" units="1/cm"/>
          <inkml:channelProperty channel="Y" name="resolution" value="86.46067" units="1/cm"/>
          <inkml:channelProperty channel="T" name="resolution" value="1" units="1/dev"/>
        </inkml:channelProperties>
      </inkml:inkSource>
      <inkml:timestamp xml:id="ts0" timeString="2020-05-25T20:06:18.830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context xml:id="ctx1">
      <inkml:inkSource xml:id="inkSrc1">
        <inkml:traceFormat>
          <inkml:channel name="X" type="integer" max="9600" units="cm"/>
          <inkml:channel name="Y" type="integer" max="7200" units="cm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403.81378" units="1/cm"/>
          <inkml:channelProperty channel="T" name="resolution" value="1" units="1/dev"/>
        </inkml:channelProperties>
      </inkml:inkSource>
      <inkml:timestamp xml:id="ts1" timeString="2020-05-25T20:03:22.280"/>
    </inkml:context>
  </inkml:definitions>
  <inkml:trace contextRef="#ctx0" brushRef="#br0">2238 17608 0</inkml:trace>
  <inkml:trace contextRef="#ctx1" brushRef="#br0">7680 8163 0,'0'19'0,"0"-19"16,0 0-16,0 0 15,0 0 1,0 0-16,0 0 16,0 0-1,0 0-15,0 0 16,0 0-1,0 0-15,0 0 16,0 0 0,0 0-16,0 0 15,0 0 1,108 62-16,-23-62 16,23-9-16,29-6 15,5 6 1,17 4-1,6-4-15,6 4 16,11-5-16,0 10 16,11-9-1,-5-1-15,0 1 16,-6-10 0,-23 0-16,-11 0 15,-28 10 1,-29-6-16,-29 6 15,-33-1-15,-12 10 16,-17 0 0,-12 10-16,-10-1 15,-1-9 1,0 10-16,0-5 16,0-1-1,1 1 1,5 0-16,-6-5 15,17 5-15,1-1 16,5-4 0,-6 0-16,6 0 15,0 5 1,6-14-16,-1-6 16,29-13-16,69-1 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403.81378" units="1/cm"/>
          <inkml:channelProperty channel="T" name="resolution" value="1" units="1/dev"/>
        </inkml:channelProperties>
      </inkml:inkSource>
      <inkml:timestamp xml:id="ts0" timeString="2020-05-25T20:05:55.9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4454 4739 0,'0'0'0,"0"0"16,-153-19-16,45 0 16,11 9-1,-11 1-15,-6 13 16,-23 15 0,-22 24-16,-11 19 15,-1 23 1,-5 15-16,11 33 15,5 23 1,18-4-16,34 19 16,6 18-16,33 11 15,35 4 1,11-5-16,23 10 16,29 14-1,22-15-15,29-18 16,33 0-16,47-24 15,10-14 1,18-15 0,28-28-16,12-28 15,5-10-15,17-9 16,35-39 0,11-18-16,17-29 15,-12-14 1,6-52-16,-28-9 15,-17-29-15,-35-15 16,-33-4 0,-35-19-16,-34 5 15,-23 0 1,-16-10-16,-41 5 16,-11-5-1,-17 10-15,-28 14 16,-17 9-1,-24 15-15,-10 4 16,-29 10-16,-17 19 16,-23 0-1,-11 14-15,-12 5 16,1 0 0,-18 0-16,-11 4 15,-6 6 1,0 23-16,-5 4 15,5 25 1,-5 14-16,5 9 16,-5 29-16,-1-1 15,1 25 1,5 13-16,12 1 16,5 19-1,0-1-15,12 1 16,6 47-16,-1 14 15,-22 24 1,-18 19 0</inkml:trace>
  <inkml:trace contextRef="#ctx0" brushRef="#br0" timeOffset="1312.58">9375 7599 0,'-171'38'0,"171"-38"15,-165 9-15,-68 20 16,6 9 0,-1 24-16,18-1 15,10 15 1,18 24-16,17 4 15,35 24 1,27-9-16,41 18 16,16-4-1,46 14-15,46 5 16,22-5-16,40-14 16,23 4-1,34-9-15,34-18 16,28 3-1,24-22-15,33-16 16,12-46 0,11-20-16,12-37 15,-12-43 1,0-29-16,-22-18 16,-29-30-16,-35-13 15,-33-24 1,-34-5-16,-41 5 15,-33 10 1,-34-5-16,-29 9 16,-29 5-16,-33 14 15,-23 24 1,-46 19 0,-28 0-16,-46 28 15,-45 10-15,-35 24 16,-22 18-1,-11 34-15,-1 28 16,6 19 0,18 48-16,10 23 15,18 29 1,17 28-16,11 38 16,-6 15-1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Rectangl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A2C58-682A-4105-BB6B-F2E9745E80DD}" type="slidenum">
              <a:rPr lang="en-US" altLang="x-none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937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 advClick="0" advTm="4000">
        <p14:prism dir="u" isContent="1"/>
        <p:sndAc>
          <p:stSnd>
            <p:snd r:embed="rId1" name="drumroll.wav"/>
          </p:stSnd>
        </p:sndAc>
      </p:transition>
    </mc:Choice>
    <mc:Fallback xmlns="">
      <p:transition spd="slow" advClick="0" advTm="4000">
        <p:fade/>
        <p:sndAc>
          <p:stSnd>
            <p:snd r:embed="rId3" name="drumroll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5/25/2020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  <p:sldLayoutId id="2147483669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400" kern="1200" cap="none">
          <a:solidFill>
            <a:schemeClr val="accent1">
              <a:lumMod val="50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accent1">
              <a:lumMod val="50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accent1">
              <a:lumMod val="50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accent1">
              <a:lumMod val="50000"/>
            </a:schemeClr>
          </a:solidFill>
          <a:effectLst/>
          <a:latin typeface="+mn-lt"/>
          <a:ea typeface="+mn-ea"/>
          <a:cs typeface="+mn-cs"/>
        </a:defRPr>
      </a:lvl4pPr>
      <a:lvl5pPr marL="21145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accent1">
              <a:lumMod val="50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.png"/><Relationship Id="rId5" Type="http://schemas.openxmlformats.org/officeDocument/2006/relationships/customXml" Target="../ink/ink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Rectangle 7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x-none"/>
              <a:t>Annual Meeting</a:t>
            </a:r>
            <a:endParaRPr lang="en-US" dirty="0"/>
          </a:p>
        </p:txBody>
      </p:sp>
      <p:sp>
        <p:nvSpPr>
          <p:cNvPr id="4104" name="Rectangle 8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x-none" dirty="0"/>
              <a:t>Board of Directors</a:t>
            </a:r>
            <a:endParaRPr lang="en-US" dirty="0"/>
          </a:p>
          <a:p>
            <a:endParaRPr lang="en-US" altLang="x-none" dirty="0"/>
          </a:p>
        </p:txBody>
      </p:sp>
    </p:spTree>
    <p:extLst>
      <p:ext uri="{BB962C8B-B14F-4D97-AF65-F5344CB8AC3E}">
        <p14:creationId xmlns:p14="http://schemas.microsoft.com/office/powerpoint/2010/main" val="29190835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43"/>
    </mc:Choice>
    <mc:Fallback>
      <p:transition spd="slow" advTm="504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Agenda</a:t>
            </a:r>
            <a:endParaRPr lang="en-US" dirty="0"/>
          </a:p>
        </p:txBody>
      </p:sp>
      <p:sp>
        <p:nvSpPr>
          <p:cNvPr id="5128" name="Rectangle 8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x-none"/>
              <a:t>Review of key objectives</a:t>
            </a:r>
            <a:endParaRPr lang="en-US"/>
          </a:p>
          <a:p>
            <a:r>
              <a:rPr lang="en-US" altLang="x-none"/>
              <a:t>How did we do?</a:t>
            </a:r>
          </a:p>
          <a:p>
            <a:r>
              <a:rPr lang="en-US" altLang="x-none"/>
              <a:t>Organizational overview</a:t>
            </a:r>
          </a:p>
          <a:p>
            <a:r>
              <a:rPr lang="en-US" altLang="x-none"/>
              <a:t>Top issues facing the company</a:t>
            </a:r>
          </a:p>
          <a:p>
            <a:r>
              <a:rPr lang="en-US" altLang="x-none"/>
              <a:t>Review of our progress</a:t>
            </a:r>
          </a:p>
          <a:p>
            <a:r>
              <a:rPr lang="en-US" altLang="x-none"/>
              <a:t>Key spending areas</a:t>
            </a:r>
          </a:p>
          <a:p>
            <a:r>
              <a:rPr lang="en-US" altLang="x-none"/>
              <a:t>Head count</a:t>
            </a:r>
          </a:p>
          <a:p>
            <a:r>
              <a:rPr lang="en-US" altLang="x-none"/>
              <a:t>Goals for the coming year</a:t>
            </a:r>
            <a:endParaRPr lang="en-US" altLang="x-none" dirty="0"/>
          </a:p>
        </p:txBody>
      </p:sp>
    </p:spTree>
    <p:extLst>
      <p:ext uri="{BB962C8B-B14F-4D97-AF65-F5344CB8AC3E}">
        <p14:creationId xmlns:p14="http://schemas.microsoft.com/office/powerpoint/2010/main" val="36880719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 advTm="10326">
        <p14:prism dir="u" isContent="1"/>
        <p:sndAc>
          <p:stSnd>
            <p:snd r:embed="rId2" name="drumroll.wav"/>
          </p:stSnd>
        </p:sndAc>
      </p:transition>
    </mc:Choice>
    <mc:Fallback>
      <p:transition spd="slow" advTm="10326">
        <p:fade/>
        <p:sndAc>
          <p:stSnd>
            <p:snd r:embed="rId2" name="drumroll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1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Review of Key Objectives</a:t>
            </a:r>
            <a:endParaRPr lang="en-US" dirty="0"/>
          </a:p>
        </p:txBody>
      </p:sp>
      <p:sp>
        <p:nvSpPr>
          <p:cNvPr id="6152" name="Rectangle 8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x-none"/>
              <a:t>What makes our company unique</a:t>
            </a:r>
            <a:endParaRPr lang="en-US"/>
          </a:p>
          <a:p>
            <a:r>
              <a:rPr lang="en-US" altLang="x-none"/>
              <a:t>What makes our company successful</a:t>
            </a:r>
          </a:p>
          <a:p>
            <a:r>
              <a:rPr lang="en-US" altLang="x-none"/>
              <a:t>Our shared vision</a:t>
            </a:r>
          </a:p>
          <a:p>
            <a:r>
              <a:rPr lang="en-US" altLang="x-none"/>
              <a:t>Key undertakings of the past year</a:t>
            </a:r>
            <a:endParaRPr lang="en-US" altLang="x-none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15F6147-B5B9-4276-A6B7-86F8825AB04C}"/>
                  </a:ext>
                </a:extLst>
              </p14:cNvPr>
              <p14:cNvContentPartPr/>
              <p14:nvPr/>
            </p14:nvContentPartPr>
            <p14:xfrm>
              <a:off x="5132160" y="1774080"/>
              <a:ext cx="1132920" cy="619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15F6147-B5B9-4276-A6B7-86F8825AB04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16320" y="1710720"/>
                <a:ext cx="1164240" cy="18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7CD8B56-65FE-4B5E-9FD3-BE71F8E191A2}"/>
                  </a:ext>
                </a:extLst>
              </p14:cNvPr>
              <p14:cNvContentPartPr/>
              <p14:nvPr/>
            </p14:nvContentPartPr>
            <p14:xfrm>
              <a:off x="5029560" y="2276280"/>
              <a:ext cx="1515960" cy="975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7CD8B56-65FE-4B5E-9FD3-BE71F8E191A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013720" y="2212920"/>
                <a:ext cx="154728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672D4E7-C33F-44E1-AFB8-9415F5C1A2BE}"/>
                  </a:ext>
                </a:extLst>
              </p14:cNvPr>
              <p14:cNvContentPartPr/>
              <p14:nvPr/>
            </p14:nvContentPartPr>
            <p14:xfrm>
              <a:off x="805680" y="2892600"/>
              <a:ext cx="2973240" cy="34466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672D4E7-C33F-44E1-AFB8-9415F5C1A2B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96320" y="2883240"/>
                <a:ext cx="2991960" cy="3465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106967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 advTm="10100">
        <p14:prism dir="u" isContent="1"/>
        <p:sndAc>
          <p:stSnd>
            <p:snd r:embed="rId2" name="drumroll.wav"/>
          </p:stSnd>
        </p:sndAc>
      </p:transition>
    </mc:Choice>
    <mc:Fallback>
      <p:transition spd="slow" advTm="10100">
        <p:fade/>
        <p:sndAc>
          <p:stSnd>
            <p:snd r:embed="rId2" name="drumroll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5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How Did We Do?</a:t>
            </a:r>
            <a:endParaRPr lang="en-US" dirty="0"/>
          </a:p>
        </p:txBody>
      </p:sp>
      <p:sp>
        <p:nvSpPr>
          <p:cNvPr id="7176" name="Rectangle 8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x-none"/>
              <a:t>Department heads will give an overview of their performance against their objectives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4355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 advTm="1991">
        <p14:prism dir="u" isContent="1"/>
        <p:sndAc>
          <p:stSnd>
            <p:snd r:embed="rId2" name="drumroll.wav"/>
          </p:stSnd>
        </p:sndAc>
      </p:transition>
    </mc:Choice>
    <mc:Fallback>
      <p:transition spd="slow" advTm="1991">
        <p:fade/>
        <p:sndAc>
          <p:stSnd>
            <p:snd r:embed="rId2" name="drumroll.wav"/>
          </p:stSnd>
        </p:sndAc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9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Organizational Overview</a:t>
            </a:r>
            <a:endParaRPr lang="en-US" dirty="0"/>
          </a:p>
        </p:txBody>
      </p:sp>
      <p:sp>
        <p:nvSpPr>
          <p:cNvPr id="8200" name="Rectangle 8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x-none"/>
              <a:t>Review of changes</a:t>
            </a:r>
          </a:p>
          <a:p>
            <a:r>
              <a:rPr lang="en-US" altLang="x-none"/>
              <a:t>Introduction of new managers</a:t>
            </a:r>
            <a:endParaRPr lang="en-US"/>
          </a:p>
          <a:p>
            <a:r>
              <a:rPr lang="en-US" altLang="x-none"/>
              <a:t>Changes still to come</a:t>
            </a:r>
            <a:endParaRPr lang="en-US" altLang="x-none" dirty="0"/>
          </a:p>
        </p:txBody>
      </p:sp>
    </p:spTree>
    <p:extLst>
      <p:ext uri="{BB962C8B-B14F-4D97-AF65-F5344CB8AC3E}">
        <p14:creationId xmlns:p14="http://schemas.microsoft.com/office/powerpoint/2010/main" val="21588602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90"/>
    </mc:Choice>
    <mc:Fallback>
      <p:transition spd="slow" advTm="809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5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Top Issues Facing the Company</a:t>
            </a:r>
            <a:endParaRPr lang="en-US" dirty="0"/>
          </a:p>
        </p:txBody>
      </p:sp>
      <p:sp>
        <p:nvSpPr>
          <p:cNvPr id="9226" name="Rectangle 10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x-none"/>
              <a:t>External industry pressures</a:t>
            </a:r>
          </a:p>
          <a:p>
            <a:r>
              <a:rPr lang="en-US" altLang="x-none"/>
              <a:t>External customer issues</a:t>
            </a:r>
          </a:p>
          <a:p>
            <a:r>
              <a:rPr lang="en-US" altLang="x-none"/>
              <a:t>High profile internal issues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B7B75D1-66F2-4A7C-A962-13B3C792E34E}"/>
                  </a:ext>
                </a:extLst>
              </p14:cNvPr>
              <p14:cNvContentPartPr/>
              <p14:nvPr/>
            </p14:nvContentPartPr>
            <p14:xfrm>
              <a:off x="812880" y="1685520"/>
              <a:ext cx="3373560" cy="18802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B7B75D1-66F2-4A7C-A962-13B3C792E34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03520" y="1676160"/>
                <a:ext cx="3392280" cy="189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117963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 advTm="10491">
        <p14:prism dir="u" isContent="1"/>
        <p:sndAc>
          <p:stSnd>
            <p:snd r:embed="rId2" name="drumroll.wav"/>
          </p:stSnd>
        </p:sndAc>
      </p:transition>
    </mc:Choice>
    <mc:Fallback>
      <p:transition spd="slow" advTm="10491">
        <p:fade/>
        <p:sndAc>
          <p:stSnd>
            <p:snd r:embed="rId2" name="drumroll.wav"/>
          </p:stSnd>
        </p:sndAc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9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Review of Our Progress</a:t>
            </a:r>
            <a:endParaRPr lang="en-US" dirty="0"/>
          </a:p>
        </p:txBody>
      </p:sp>
      <p:sp>
        <p:nvSpPr>
          <p:cNvPr id="10250" name="Rectangle 10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x-none"/>
              <a:t>Financial</a:t>
            </a:r>
            <a:endParaRPr lang="en-US"/>
          </a:p>
          <a:p>
            <a:r>
              <a:rPr lang="en-US" altLang="x-none"/>
              <a:t>Competitive</a:t>
            </a:r>
          </a:p>
          <a:p>
            <a:r>
              <a:rPr lang="en-US" altLang="x-none"/>
              <a:t>Customer retention</a:t>
            </a:r>
            <a:endParaRPr lang="en-US" altLang="x-none" dirty="0"/>
          </a:p>
        </p:txBody>
      </p:sp>
    </p:spTree>
    <p:extLst>
      <p:ext uri="{BB962C8B-B14F-4D97-AF65-F5344CB8AC3E}">
        <p14:creationId xmlns:p14="http://schemas.microsoft.com/office/powerpoint/2010/main" val="38464808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 advTm="5785">
        <p14:prism dir="u" isContent="1"/>
        <p:sndAc>
          <p:stSnd>
            <p:snd r:embed="rId2" name="drumroll.wav"/>
          </p:stSnd>
        </p:sndAc>
      </p:transition>
    </mc:Choice>
    <mc:Fallback>
      <p:transition spd="slow" advTm="5785">
        <p:fade/>
        <p:sndAc>
          <p:stSnd>
            <p:snd r:embed="rId2" name="drumroll.wav"/>
          </p:stSnd>
        </p:sndAc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9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Key Spending Areas</a:t>
            </a:r>
            <a:endParaRPr lang="en-US" dirty="0"/>
          </a:p>
        </p:txBody>
      </p:sp>
      <p:sp>
        <p:nvSpPr>
          <p:cNvPr id="13320" name="Rectangle 8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x-none"/>
              <a:t>R&amp;D</a:t>
            </a:r>
            <a:endParaRPr lang="en-US"/>
          </a:p>
          <a:p>
            <a:r>
              <a:rPr lang="en-US" altLang="x-none"/>
              <a:t>Sales and marketing</a:t>
            </a:r>
          </a:p>
          <a:p>
            <a:r>
              <a:rPr lang="en-US" altLang="x-none"/>
              <a:t>General and administration</a:t>
            </a:r>
          </a:p>
          <a:p>
            <a:r>
              <a:rPr lang="en-US" altLang="x-none"/>
              <a:t>Areas of improvement</a:t>
            </a:r>
          </a:p>
          <a:p>
            <a:r>
              <a:rPr lang="en-US" altLang="x-none"/>
              <a:t>Areas needing attention/caution</a:t>
            </a:r>
            <a:endParaRPr lang="en-US" altLang="x-none" dirty="0"/>
          </a:p>
        </p:txBody>
      </p:sp>
    </p:spTree>
    <p:extLst>
      <p:ext uri="{BB962C8B-B14F-4D97-AF65-F5344CB8AC3E}">
        <p14:creationId xmlns:p14="http://schemas.microsoft.com/office/powerpoint/2010/main" val="17949604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 advTm="5803">
        <p14:prism dir="u" isContent="1"/>
        <p:sndAc>
          <p:stSnd>
            <p:snd r:embed="rId2" name="drumroll.wav"/>
          </p:stSnd>
        </p:sndAc>
      </p:transition>
    </mc:Choice>
    <mc:Fallback>
      <p:transition spd="slow" advTm="5803">
        <p:fade/>
        <p:sndAc>
          <p:stSnd>
            <p:snd r:embed="rId2" name="drumroll.wav"/>
          </p:stSnd>
        </p:sndAc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3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Head Count</a:t>
            </a:r>
            <a:endParaRPr lang="en-US" dirty="0"/>
          </a:p>
        </p:txBody>
      </p:sp>
      <p:sp>
        <p:nvSpPr>
          <p:cNvPr id="14344" name="Rectangle 8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x-none"/>
              <a:t>Goals</a:t>
            </a:r>
            <a:endParaRPr lang="en-US"/>
          </a:p>
          <a:p>
            <a:r>
              <a:rPr lang="en-US" altLang="x-none"/>
              <a:t>Results</a:t>
            </a:r>
            <a:endParaRPr lang="en-US" altLang="x-none" dirty="0"/>
          </a:p>
        </p:txBody>
      </p:sp>
    </p:spTree>
    <p:extLst>
      <p:ext uri="{BB962C8B-B14F-4D97-AF65-F5344CB8AC3E}">
        <p14:creationId xmlns:p14="http://schemas.microsoft.com/office/powerpoint/2010/main" val="11808842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 advTm="2967">
        <p14:prism dir="u" isContent="1"/>
        <p:sndAc>
          <p:stSnd>
            <p:snd r:embed="rId2" name="drumroll.wav"/>
          </p:stSnd>
        </p:sndAc>
      </p:transition>
    </mc:Choice>
    <mc:Fallback>
      <p:transition spd="slow" advTm="2967">
        <p:fade/>
        <p:sndAc>
          <p:stSnd>
            <p:snd r:embed="rId2" name="drumroll.wav"/>
          </p:stSnd>
        </p:sndAc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7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Goals for the Coming Year</a:t>
            </a:r>
            <a:endParaRPr lang="en-US" dirty="0"/>
          </a:p>
        </p:txBody>
      </p:sp>
      <p:sp>
        <p:nvSpPr>
          <p:cNvPr id="15368" name="Rectangle 8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x-none"/>
              <a:t>Strategic undertakings</a:t>
            </a:r>
            <a:endParaRPr lang="en-US"/>
          </a:p>
          <a:p>
            <a:r>
              <a:rPr lang="en-US" altLang="x-none"/>
              <a:t>Financial goals</a:t>
            </a:r>
          </a:p>
          <a:p>
            <a:r>
              <a:rPr lang="en-US" altLang="x-none"/>
              <a:t>Other key efforts</a:t>
            </a:r>
            <a:endParaRPr lang="en-US" altLang="x-none" dirty="0"/>
          </a:p>
        </p:txBody>
      </p:sp>
    </p:spTree>
    <p:extLst>
      <p:ext uri="{BB962C8B-B14F-4D97-AF65-F5344CB8AC3E}">
        <p14:creationId xmlns:p14="http://schemas.microsoft.com/office/powerpoint/2010/main" val="4406460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 advTm="1386">
        <p14:prism dir="u" isContent="1"/>
        <p:sndAc>
          <p:stSnd>
            <p:snd r:embed="rId2" name="drumroll.wav"/>
          </p:stSnd>
        </p:sndAc>
      </p:transition>
    </mc:Choice>
    <mc:Fallback>
      <p:transition spd="slow" advTm="1386">
        <p:fade/>
        <p:sndAc>
          <p:stSnd>
            <p:snd r:embed="rId2" name="drumroll.wav"/>
          </p:stSnd>
        </p:sndAc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1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Summary</a:t>
            </a:r>
            <a:endParaRPr lang="en-US" dirty="0"/>
          </a:p>
        </p:txBody>
      </p:sp>
      <p:sp>
        <p:nvSpPr>
          <p:cNvPr id="16392" name="Rectangle 8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x-none"/>
              <a:t>Summary of key successes/challenges</a:t>
            </a:r>
            <a:endParaRPr lang="en-US"/>
          </a:p>
          <a:p>
            <a:r>
              <a:rPr lang="en-US" altLang="x-none"/>
              <a:t>Reiteration of key goals</a:t>
            </a:r>
          </a:p>
          <a:p>
            <a:r>
              <a:rPr lang="en-US" altLang="x-none"/>
              <a:t>Thanks</a:t>
            </a:r>
            <a:endParaRPr lang="en-US" altLang="x-none" dirty="0"/>
          </a:p>
        </p:txBody>
      </p:sp>
    </p:spTree>
    <p:extLst>
      <p:ext uri="{BB962C8B-B14F-4D97-AF65-F5344CB8AC3E}">
        <p14:creationId xmlns:p14="http://schemas.microsoft.com/office/powerpoint/2010/main" val="42466804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 advTm="5248">
        <p14:prism dir="u" isContent="1"/>
        <p:sndAc>
          <p:stSnd>
            <p:snd r:embed="rId2" name="drumroll.wav"/>
          </p:stSnd>
        </p:sndAc>
      </p:transition>
    </mc:Choice>
    <mc:Fallback>
      <p:transition spd="slow" advTm="5248">
        <p:fade/>
        <p:sndAc>
          <p:stSnd>
            <p:snd r:embed="rId2" name="drumroll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D06F1E"/>
      </a:dk2>
      <a:lt2>
        <a:srgbClr val="F0BE21"/>
      </a:lt2>
      <a:accent1>
        <a:srgbClr val="760603"/>
      </a:accent1>
      <a:accent2>
        <a:srgbClr val="9F761A"/>
      </a:accent2>
      <a:accent3>
        <a:srgbClr val="92A200"/>
      </a:accent3>
      <a:accent4>
        <a:srgbClr val="4AA157"/>
      </a:accent4>
      <a:accent5>
        <a:srgbClr val="46788D"/>
      </a:accent5>
      <a:accent6>
        <a:srgbClr val="A848A8"/>
      </a:accent6>
      <a:hlink>
        <a:srgbClr val="460402"/>
      </a:hlink>
      <a:folHlink>
        <a:srgbClr val="991111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162000"/>
                <a:satMod val="200000"/>
                <a:lumMod val="124000"/>
              </a:schemeClr>
            </a:gs>
            <a:gs pos="100000">
              <a:schemeClr val="phClr">
                <a:shade val="96000"/>
                <a:hueMod val="88000"/>
                <a:satMod val="220000"/>
                <a:lumMod val="82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142000"/>
                <a:satMod val="200000"/>
                <a:lumMod val="118000"/>
              </a:schemeClr>
            </a:gs>
            <a:gs pos="100000">
              <a:schemeClr val="phClr">
                <a:shade val="92000"/>
                <a:hueMod val="22000"/>
                <a:satMod val="220000"/>
                <a:lumMod val="62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282EB108-EDE6-4B8E-957B-D4A69BF580E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26fae966-843c-4d4f-81a0-161e61761eff">J75KEXXRD6TM-2-15932</_dlc_DocId>
    <_dlc_DocIdUrl xmlns="26fae966-843c-4d4f-81a0-161e61761eff">
      <Url>https://otsi.sharepoint.com/sites/archives/_layouts/15/DocIdRedir.aspx?ID=J75KEXXRD6TM-2-15932</Url>
      <Description>J75KEXXRD6TM-2-15932</Description>
    </_dlc_DocIdUrl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1F9B7B5563E546BDCC4FF750137663" ma:contentTypeVersion="9" ma:contentTypeDescription="Create a new document." ma:contentTypeScope="" ma:versionID="8513bfaeccee3a29edeed2ebc50cefbd">
  <xsd:schema xmlns:xsd="http://www.w3.org/2001/XMLSchema" xmlns:xs="http://www.w3.org/2001/XMLSchema" xmlns:p="http://schemas.microsoft.com/office/2006/metadata/properties" xmlns:ns2="26fae966-843c-4d4f-81a0-161e61761eff" xmlns:ns3="b1ae2228-c504-4e45-a9cd-f7127473102f" targetNamespace="http://schemas.microsoft.com/office/2006/metadata/properties" ma:root="true" ma:fieldsID="16db1d309f1c262f660d08fc4ebdfc9e" ns2:_="" ns3:_="">
    <xsd:import namespace="26fae966-843c-4d4f-81a0-161e61761eff"/>
    <xsd:import namespace="b1ae2228-c504-4e45-a9cd-f7127473102f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2:SharedWithUsers" minOccurs="0"/>
                <xsd:element ref="ns2:SharingHintHash" minOccurs="0"/>
                <xsd:element ref="ns2:SharedWithDetails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fae966-843c-4d4f-81a0-161e61761eff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2" nillable="true" ma:displayName="Sharing Hint Hash" ma:internalName="SharingHintHash" ma:readOnly="true">
      <xsd:simpleType>
        <xsd:restriction base="dms:Text"/>
      </xsd:simpleType>
    </xsd:element>
    <xsd:element name="SharedWithDetails" ma:index="13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4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5" nillable="true" ma:displayName="Last Shared By Time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ae2228-c504-4e45-a9cd-f7127473102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6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7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E7FA8A6-F314-4B5F-B95E-0A4182118046}">
  <ds:schemaRefs>
    <ds:schemaRef ds:uri="b4863681-c067-4c62-bc75-95bf3ac03d16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  <ds:schemaRef ds:uri="26fae966-843c-4d4f-81a0-161e61761eff"/>
  </ds:schemaRefs>
</ds:datastoreItem>
</file>

<file path=customXml/itemProps2.xml><?xml version="1.0" encoding="utf-8"?>
<ds:datastoreItem xmlns:ds="http://schemas.openxmlformats.org/officeDocument/2006/customXml" ds:itemID="{86E79E26-7A73-4203-A1DD-A7BCC33655B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85D9481-A84F-43F2-9763-4C57C3DB78A6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89B5DEEE-31F5-4705-86A7-AE32BF67595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6fae966-843c-4d4f-81a0-161e61761eff"/>
    <ds:schemaRef ds:uri="b1ae2228-c504-4e45-a9cd-f7127473102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23</TotalTime>
  <Words>160</Words>
  <Application>Microsoft Office PowerPoint</Application>
  <PresentationFormat>Widescreen</PresentationFormat>
  <Paragraphs>47</Paragraphs>
  <Slides>11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  <vt:variant>
        <vt:lpstr>Custom Shows</vt:lpstr>
      </vt:variant>
      <vt:variant>
        <vt:i4>1</vt:i4>
      </vt:variant>
    </vt:vector>
  </HeadingPairs>
  <TitlesOfParts>
    <vt:vector size="15" baseType="lpstr">
      <vt:lpstr>Century Gothic</vt:lpstr>
      <vt:lpstr>Wingdings 3</vt:lpstr>
      <vt:lpstr>Slice</vt:lpstr>
      <vt:lpstr>Annual Meeting</vt:lpstr>
      <vt:lpstr>Agenda</vt:lpstr>
      <vt:lpstr>Review of Key Objectives</vt:lpstr>
      <vt:lpstr>How Did We Do?</vt:lpstr>
      <vt:lpstr>Organizational Overview</vt:lpstr>
      <vt:lpstr>Top Issues Facing the Company</vt:lpstr>
      <vt:lpstr>Review of Our Progress</vt:lpstr>
      <vt:lpstr>Key Spending Areas</vt:lpstr>
      <vt:lpstr>Head Count</vt:lpstr>
      <vt:lpstr>Goals for the Coming Year</vt:lpstr>
      <vt:lpstr>Summary</vt:lpstr>
      <vt:lpstr>Managers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Annual Meeting</dc:title>
  <cp:lastModifiedBy>Joan Lambert</cp:lastModifiedBy>
  <cp:revision>2</cp:revision>
  <dcterms:created xsi:type="dcterms:W3CDTF">2013-08-22T04:40:53Z</dcterms:created>
  <dcterms:modified xsi:type="dcterms:W3CDTF">2020-05-25T20:11:58Z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0x0101009E1F9B7B5563E546BDCC4FF750137663</vt:lpwstr>
  </property>
  <property fmtid="{D5CDD505-2E9C-101B-9397-08002B2CF9AE}" pid="3" name="_dlc_DocIdItemGuid">
    <vt:lpwstr>176132b4-ecfa-4f4f-838a-2b46975d24da</vt:lpwstr>
  </property>
</Properties>
</file>