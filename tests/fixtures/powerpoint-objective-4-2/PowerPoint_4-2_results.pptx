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5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Water Consumption (Gallons)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Brushing teeth</c:v>
                </c:pt>
                <c:pt idx="1">
                  <c:v>Washing hands</c:v>
                </c:pt>
                <c:pt idx="2">
                  <c:v>Toilet flush</c:v>
                </c:pt>
                <c:pt idx="3">
                  <c:v>Shaving</c:v>
                </c:pt>
                <c:pt idx="4">
                  <c:v>Shower (8 min.)</c:v>
                </c:pt>
                <c:pt idx="5">
                  <c:v>Bath</c:v>
                </c:pt>
                <c:pt idx="6">
                  <c:v>Dishwasher</c:v>
                </c:pt>
                <c:pt idx="7">
                  <c:v>Hand-washing dishes</c:v>
                </c:pt>
                <c:pt idx="8">
                  <c:v>Washing machine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36</c:v>
                </c:pt>
                <c:pt idx="6">
                  <c:v>15</c:v>
                </c:pt>
                <c:pt idx="7">
                  <c:v>20</c:v>
                </c:pt>
                <c:pt idx="8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3A-4CAB-87F4-4D84201C93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Conservative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Brushing teeth</c:v>
                </c:pt>
                <c:pt idx="1">
                  <c:v>Washing hands</c:v>
                </c:pt>
                <c:pt idx="2">
                  <c:v>Toilet flush</c:v>
                </c:pt>
                <c:pt idx="3">
                  <c:v>Shaving</c:v>
                </c:pt>
                <c:pt idx="4">
                  <c:v>Shower (8 min.)</c:v>
                </c:pt>
                <c:pt idx="5">
                  <c:v>Bath</c:v>
                </c:pt>
                <c:pt idx="6">
                  <c:v>Dishwasher</c:v>
                </c:pt>
                <c:pt idx="7">
                  <c:v>Hand-washing dishes</c:v>
                </c:pt>
                <c:pt idx="8">
                  <c:v>Washing machine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</c:v>
                </c:pt>
                <c:pt idx="1">
                  <c:v>0.5</c:v>
                </c:pt>
                <c:pt idx="2">
                  <c:v>2</c:v>
                </c:pt>
                <c:pt idx="3">
                  <c:v>1</c:v>
                </c:pt>
                <c:pt idx="4">
                  <c:v>5</c:v>
                </c:pt>
                <c:pt idx="5">
                  <c:v>15</c:v>
                </c:pt>
                <c:pt idx="6">
                  <c:v>7</c:v>
                </c:pt>
                <c:pt idx="7">
                  <c:v>5</c:v>
                </c:pt>
                <c:pt idx="8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3A-4CAB-87F4-4D84201C9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4081103"/>
        <c:axId val="1025121791"/>
      </c:lineChart>
      <c:catAx>
        <c:axId val="794081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21791"/>
        <c:crosses val="autoZero"/>
        <c:auto val="1"/>
        <c:lblAlgn val="ctr"/>
        <c:lblOffset val="100"/>
        <c:noMultiLvlLbl val="0"/>
      </c:catAx>
      <c:valAx>
        <c:axId val="1025121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08110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Minimum</c:v>
                </c:pt>
              </c:strCache>
            </c:strRef>
          </c:tx>
          <c:invertIfNegative val="0"/>
          <c:cat>
            <c:strRef>
              <c:f>Sheet1!$B$1:$E$1</c:f>
              <c:strCache>
                <c:ptCount val="4"/>
                <c:pt idx="0">
                  <c:v>Jan</c:v>
                </c:pt>
                <c:pt idx="1">
                  <c:v>April</c:v>
                </c:pt>
                <c:pt idx="2">
                  <c:v>July</c:v>
                </c:pt>
                <c:pt idx="3">
                  <c:v>Oct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29</c:v>
                </c:pt>
                <c:pt idx="1">
                  <c:v>41</c:v>
                </c:pt>
                <c:pt idx="2">
                  <c:v>61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D8-4F96-9F44-0E411A6168E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Average</c:v>
                </c:pt>
              </c:strCache>
            </c:strRef>
          </c:tx>
          <c:invertIfNegative val="0"/>
          <c:cat>
            <c:strRef>
              <c:f>Sheet1!$B$1:$E$1</c:f>
              <c:strCache>
                <c:ptCount val="4"/>
                <c:pt idx="0">
                  <c:v>Jan</c:v>
                </c:pt>
                <c:pt idx="1">
                  <c:v>April</c:v>
                </c:pt>
                <c:pt idx="2">
                  <c:v>July</c:v>
                </c:pt>
                <c:pt idx="3">
                  <c:v>Oct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35</c:v>
                </c:pt>
                <c:pt idx="1">
                  <c:v>53</c:v>
                </c:pt>
                <c:pt idx="2">
                  <c:v>75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D8-4F96-9F44-0E411A6168E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Maximum</c:v>
                </c:pt>
              </c:strCache>
            </c:strRef>
          </c:tx>
          <c:invertIfNegative val="0"/>
          <c:cat>
            <c:strRef>
              <c:f>Sheet1!$B$1:$E$1</c:f>
              <c:strCache>
                <c:ptCount val="4"/>
                <c:pt idx="0">
                  <c:v>Jan</c:v>
                </c:pt>
                <c:pt idx="1">
                  <c:v>April</c:v>
                </c:pt>
                <c:pt idx="2">
                  <c:v>July</c:v>
                </c:pt>
                <c:pt idx="3">
                  <c:v>Oct</c:v>
                </c:pt>
              </c:strCache>
            </c:strRef>
          </c:cat>
          <c:val>
            <c:numRef>
              <c:f>Sheet1!$B$4:$E$4</c:f>
              <c:numCache>
                <c:formatCode>General</c:formatCode>
                <c:ptCount val="4"/>
                <c:pt idx="0">
                  <c:v>41</c:v>
                </c:pt>
                <c:pt idx="1">
                  <c:v>64</c:v>
                </c:pt>
                <c:pt idx="2">
                  <c:v>90</c:v>
                </c:pt>
                <c:pt idx="3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D8-4F96-9F44-0E411A616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71822736"/>
        <c:axId val="571820016"/>
      </c:barChart>
      <c:catAx>
        <c:axId val="5718227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71820016"/>
        <c:crosses val="autoZero"/>
        <c:auto val="1"/>
        <c:lblAlgn val="ctr"/>
        <c:lblOffset val="100"/>
        <c:noMultiLvlLbl val="0"/>
      </c:catAx>
      <c:valAx>
        <c:axId val="5718200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5718227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50" baseline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20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explosion val="20"/>
          <c:dPt>
            <c:idx val="0"/>
            <c:bubble3D val="0"/>
            <c:spPr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shade val="75000"/>
                      <a:satMod val="12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50800" dir="5400000" sx="96000" rotWithShape="0">
                  <a:srgbClr val="000000">
                    <a:alpha val="34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20400000"/>
                </a:lightRig>
              </a:scene3d>
              <a:sp3d prstMaterial="metal">
                <a:bevelT w="101600" h="25400" prst="softRound"/>
                <a:contourClr>
                  <a:scrgbClr r="0" g="0" b="0">
                    <a:shade val="30000"/>
                  </a:scrgbClr>
                </a:contourClr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shade val="75000"/>
                      <a:satMod val="12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50800" dir="5400000" sx="96000" rotWithShape="0">
                  <a:srgbClr val="000000">
                    <a:alpha val="34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20400000"/>
                </a:lightRig>
              </a:scene3d>
              <a:sp3d prstMaterial="metal">
                <a:bevelT w="101600" h="25400" prst="softRound"/>
                <a:contourClr>
                  <a:scrgbClr r="0" g="0" b="0">
                    <a:shade val="30000"/>
                  </a:scrgbClr>
                </a:contourClr>
              </a:sp3d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/>
                  </a:gs>
                  <a:gs pos="100000">
                    <a:schemeClr val="accent3">
                      <a:shade val="75000"/>
                      <a:satMod val="12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50800" dir="5400000" sx="96000" rotWithShape="0">
                  <a:srgbClr val="000000">
                    <a:alpha val="34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20400000"/>
                </a:lightRig>
              </a:scene3d>
              <a:sp3d prstMaterial="metal">
                <a:bevelT w="101600" h="25400" prst="softRound"/>
                <a:contourClr>
                  <a:scrgbClr r="0" g="0" b="0">
                    <a:shade val="30000"/>
                  </a:scrgbClr>
                </a:contourClr>
              </a:sp3d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/>
                  </a:gs>
                  <a:gs pos="100000">
                    <a:schemeClr val="accent4">
                      <a:shade val="75000"/>
                      <a:satMod val="12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50800" dir="5400000" sx="96000" rotWithShape="0">
                  <a:srgbClr val="000000">
                    <a:alpha val="34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20400000"/>
                </a:lightRig>
              </a:scene3d>
              <a:sp3d prstMaterial="metal">
                <a:bevelT w="101600" h="25400" prst="softRound"/>
                <a:contourClr>
                  <a:scrgbClr r="0" g="0" b="0">
                    <a:shade val="30000"/>
                  </a:scrgbClr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Good</c:v>
                </c:pt>
                <c:pt idx="1">
                  <c:v>Moderate</c:v>
                </c:pt>
                <c:pt idx="2">
                  <c:v>Unhealthy for sensitive groups</c:v>
                </c:pt>
                <c:pt idx="3">
                  <c:v>Unhealthy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</c:v>
                </c:pt>
                <c:pt idx="1">
                  <c:v>73</c:v>
                </c:pt>
                <c:pt idx="2">
                  <c:v>21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C-4ECD-96AA-011415F093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gradFill rotWithShape="1">
          <a:gsLst>
            <a:gs pos="0">
              <a:schemeClr val="accent6"/>
            </a:gs>
            <a:gs pos="100000">
              <a:schemeClr val="accent6"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44450" dist="50800" dir="5400000" sx="96000" rotWithShape="0">
            <a:srgbClr val="000000">
              <a:alpha val="3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 contourW="15875" prstMaterial="metal">
          <a:bevelT w="101600" h="25400" prst="softRound"/>
          <a:contourClr>
            <a:schemeClr val="accent6">
              <a:shade val="30000"/>
            </a:schemeClr>
          </a:contourClr>
        </a:sp3d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4" y="2708476"/>
            <a:ext cx="4417807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4" y="4421081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7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5" y="5719967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4" y="2900830"/>
            <a:ext cx="8849957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4" y="4267201"/>
            <a:ext cx="8849956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5" y="2316009"/>
            <a:ext cx="407619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0" y="2316010"/>
            <a:ext cx="407428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59" y="856527"/>
            <a:ext cx="4120587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5"/>
            <a:ext cx="4406096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6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" name="Rectangle 101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78" y="693795"/>
            <a:ext cx="4479497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1" y="4133089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1030147"/>
            <a:ext cx="1979271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5" y="1030147"/>
            <a:ext cx="7231605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88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3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1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2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CDFFFCA-2945-4A67-910E-C86F92E31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32082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8753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939712"/>
              </p:ext>
            </p:extLst>
          </p:nvPr>
        </p:nvGraphicFramePr>
        <p:xfrm>
          <a:off x="1752600" y="1524000"/>
          <a:ext cx="8616958" cy="4460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9680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Air quality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0112671"/>
              </p:ext>
            </p:extLst>
          </p:nvPr>
        </p:nvGraphicFramePr>
        <p:xfrm>
          <a:off x="1555663" y="1905000"/>
          <a:ext cx="9037638" cy="350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69691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>
  <documentManagement>
    <_dlc_DocId xmlns="26fae966-843c-4d4f-81a0-161e61761eff">J75KEXXRD6TM-2-15969</_dlc_DocId>
    <_dlc_DocIdUrl xmlns="26fae966-843c-4d4f-81a0-161e61761eff">
      <Url>https://otsi.sharepoint.com/sites/archives/_layouts/15/DocIdRedir.aspx?ID=J75KEXXRD6TM-2-15969</Url>
      <Description>J75KEXXRD6TM-2-15969</Description>
    </_dlc_DocIdUrl>
  </documentManagement>
</p:properties>
</file>

<file path=customXml/itemProps1.xml><?xml version="1.0" encoding="utf-8"?>
<ds:datastoreItem xmlns:ds="http://schemas.openxmlformats.org/officeDocument/2006/customXml" ds:itemID="{CE13A570-C955-4261-81A2-043284E7D2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61765A-882F-4F00-BACA-E7BC216E9EF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7C6EE473-84D2-4AF1-BE6D-D54F7EAEB3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1D83AF9-5883-4908-BAB3-8D7C9ED63EC9}">
  <ds:schemaRefs>
    <ds:schemaRef ds:uri="b4863681-c067-4c62-bc75-95bf3ac03d16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26fae966-843c-4d4f-81a0-161e61761e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846</TotalTime>
  <Words>10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2</vt:lpstr>
      <vt:lpstr>Austin</vt:lpstr>
      <vt:lpstr>PowerPoint Presentation</vt:lpstr>
      <vt:lpstr>PowerPoint Presentation</vt:lpstr>
      <vt:lpstr>Air quality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Water-Saving Strategies</dc:title>
  <dc:creator>Sidney Higa</dc:creator>
  <cp:lastModifiedBy>Joan Lambert</cp:lastModifiedBy>
  <cp:revision>29</cp:revision>
  <dcterms:created xsi:type="dcterms:W3CDTF">2010-04-07T18:09:45Z</dcterms:created>
  <dcterms:modified xsi:type="dcterms:W3CDTF">2020-06-04T03:12:54Z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36f7a147-cb55-4919-948a-66ae4c37c698</vt:lpwstr>
  </property>
</Properties>
</file>